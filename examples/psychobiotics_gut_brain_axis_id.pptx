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Diet Psikobiotik (Prebiotik &amp; Fermentasi)</c:v>
                </c:pt>
              </c:strCache>
            </c:strRef>
          </c:tx>
          <c:spPr>
            <a:solidFill>
              <a:srgbClr val="0072B2"/>
            </a:solidFill>
          </c:spPr>
          <c:cat>
            <c:strRef>
              <c:f>Sheet1!$A$2:$A$2</c:f>
              <c:strCache>
                <c:ptCount val="1"/>
                <c:pt idx="0">
                  <c:v>Penurunan Stres Terpersepsi (%) - Berding 2022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Diet Kontrol Standar</c:v>
                </c:pt>
              </c:strCache>
            </c:strRef>
          </c:tx>
          <c:spPr>
            <a:solidFill>
              <a:srgbClr val="64748B"/>
            </a:solidFill>
          </c:spPr>
          <c:cat>
            <c:strRef>
              <c:f>Sheet1!$A$2:$A$2</c:f>
              <c:strCache>
                <c:ptCount val="1"/>
                <c:pt idx="0">
                  <c:v>Penurunan Stres Terpersepsi (%) - Berding 2022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Sumber: Sisubalan et al. (2026), Frontiers in Microbiology 17:1804560. Diterbitkan 27 Maret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Graphical Abstract dipotong langsung pada 300 DPI dari halaman 2 PDF asli.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 dipotong langsung pada 300 DPI dari halaman 4 PDF asli.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Sumber: Tabel 1 (halaman 5-6) dan Subbab 3.1 (halaman 3-7).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Sumber: Tabel 1 (halaman 5-6) dan Subbab 3.2 (halaman 7-9).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Sumber: Berding et al. (2022) dan Casertano et al. (2024) pada halaman 8-9.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Sumber: Bab 4 Strain-specific psychobiotic mechanisms (halaman 9-10).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Sumber: Bab 3.2 akhir dan Bab 5 Future perspectives (halaman 9-10).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Sumber: Bab 6 Conclusion (halaman 10-11).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9144" cy="9144"/>
          </a:xfrm>
        </p:spPr>
        <p:txBody>
          <a:bodyPr/>
          <a:lstStyle/>
          <a:p>
            <a:r>
              <a:rPr sz="100">
                <a:solidFill>
                  <a:srgbClr val="0F172A"/>
                </a:solidFill>
              </a:rPr>
              <a:t>Psikobiotik dan Kesehatan Mental via Sumbu Usus–Otak</a:t>
            </a:r>
          </a:p>
        </p:txBody>
      </p:sp>
      <p:sp>
        <p:nvSpPr>
          <p:cNvPr id="3" name="Band_Title_Header"/>
          <p:cNvSpPr txBox="1"/>
          <p:nvPr/>
        </p:nvSpPr>
        <p:spPr>
          <a:xfrm>
            <a:off x="731520" y="411480"/>
            <a:ext cx="10728655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3C5FD"/>
                </a:solidFill>
                <a:latin typeface="Calibri"/>
              </a:rPr>
              <a:t>TINJAUAN NARATIF TERSTRUKTUR (ARKETIPE E)</a:t>
            </a:r>
          </a:p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Psikobiotik dan Kesehatan Mental via Sumbu Usus–Otak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F8FAFC"/>
                </a:solidFill>
                <a:latin typeface="Calibri"/>
              </a:rPr>
              <a:t>Sintesis 14 Uji Klinis Manusia (2016–2025): Modulasi Mikrobiota, Metabolit Neuroaktif, dan Regulasi Stres</a:t>
            </a:r>
          </a:p>
          <a:p>
            <a:r>
              <a:rPr sz="1400">
                <a:solidFill>
                  <a:srgbClr val="64748B"/>
                </a:solidFill>
                <a:latin typeface="Calibri"/>
              </a:rPr>
              <a:t>Sisubalan N, Kesika P, Sivamaruthi BS, Chaiyasut C | Chiang Mai University (2026)</a:t>
            </a:r>
          </a:p>
        </p:txBody>
      </p:sp>
      <p:sp>
        <p:nvSpPr>
          <p:cNvPr id="5" name="Band_Footer_Citation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>
                <a:solidFill>
                  <a:srgbClr val="94A3B8"/>
                </a:solidFill>
                <a:latin typeface="Calibri"/>
              </a:rPr>
              <a:t>Sisubalan N, et al. Front. Microbiol. 2026;17:1804560 | doi:10.3389/fmicb.2026.1804560   |   Hal.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9144" cy="9144"/>
          </a:xfrm>
        </p:spPr>
        <p:txBody>
          <a:bodyPr/>
          <a:lstStyle/>
          <a:p>
            <a:r>
              <a:rPr sz="100">
                <a:solidFill>
                  <a:srgbClr val="FFFFFF"/>
                </a:solidFill>
              </a:rPr>
              <a:t>Gangguan Kecemasan Global Memicu Eksplorasi Terapi Sumbu Usus–Otak</a:t>
            </a:r>
          </a:p>
        </p:txBody>
      </p:sp>
      <p:sp>
        <p:nvSpPr>
          <p:cNvPr id="3" name="Band_Title_Header"/>
          <p:cNvSpPr txBox="1"/>
          <p:nvPr/>
        </p:nvSpPr>
        <p:spPr>
          <a:xfrm>
            <a:off x="731520" y="411480"/>
            <a:ext cx="10728655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2B2"/>
                </a:solidFill>
                <a:latin typeface="Calibri"/>
              </a:rPr>
              <a:t>LATAR BELAKANG KLINIS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Gangguan Kecemasan Global Memicu Eksplorasi Terapi Sumbu Usus–Otak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72B2"/>
                </a:solidFill>
                <a:latin typeface="Calibri"/>
              </a:rPr>
              <a:t>Beban Klinis &amp; Konsep Psikobiotik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700" b="1">
                <a:solidFill>
                  <a:srgbClr val="0F172A"/>
                </a:solidFill>
                <a:latin typeface="Calibri"/>
              </a:rPr>
              <a:t>Prevalensi Tinggi: </a:t>
            </a:r>
            <a:r>
              <a:rPr sz="1500">
                <a:solidFill>
                  <a:srgbClr val="475569"/>
                </a:solidFill>
                <a:latin typeface="Calibri"/>
              </a:rPr>
              <a:t>40 juta warga AS terdampak; risiko seumur hidup &gt;40%.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700" b="1">
                <a:solidFill>
                  <a:srgbClr val="0F172A"/>
                </a:solidFill>
                <a:latin typeface="Calibri"/>
              </a:rPr>
              <a:t>Definisi Psikobiotik: </a:t>
            </a:r>
            <a:r>
              <a:rPr sz="1500">
                <a:solidFill>
                  <a:srgbClr val="475569"/>
                </a:solidFill>
                <a:latin typeface="Calibri"/>
              </a:rPr>
              <a:t>Probiotik yang memberi manfaat mental via sumbu usus-otak.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700" b="1">
                <a:solidFill>
                  <a:srgbClr val="0F172A"/>
                </a:solidFill>
                <a:latin typeface="Calibri"/>
              </a:rPr>
              <a:t>Cakupan Bukti: </a:t>
            </a:r>
            <a:r>
              <a:rPr sz="1500">
                <a:solidFill>
                  <a:srgbClr val="475569"/>
                </a:solidFill>
                <a:latin typeface="Calibri"/>
              </a:rPr>
              <a:t>Mengkaji 14 uji klinis manusia (RPCT &amp; RDBPCOT) 2016–2025.</a:t>
            </a:r>
          </a:p>
        </p:txBody>
      </p:sp>
      <p:pic>
        <p:nvPicPr>
          <p:cNvPr id="5" name="Band_Body_Figure" descr="fig_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836" y="2011680"/>
            <a:ext cx="5148767" cy="4160520"/>
          </a:xfrm>
          <a:prstGeom prst="rect">
            <a:avLst/>
          </a:prstGeom>
          <a:ln>
            <a:noFill/>
          </a:ln>
        </p:spPr>
      </p:pic>
      <p:sp>
        <p:nvSpPr>
          <p:cNvPr id="6" name="Band_Footer_Citation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>
                <a:solidFill>
                  <a:srgbClr val="475569"/>
                </a:solidFill>
                <a:latin typeface="Calibri"/>
              </a:rPr>
              <a:t>Sisubalan N, et al. Front. Microbiol. 2026;17:1804560 | doi:10.3389/fmicb.2026.1804560   |   Hal.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9144" cy="9144"/>
          </a:xfrm>
        </p:spPr>
        <p:txBody>
          <a:bodyPr/>
          <a:lstStyle/>
          <a:p>
            <a:r>
              <a:rPr sz="100">
                <a:solidFill>
                  <a:srgbClr val="FFFFFF"/>
                </a:solidFill>
              </a:rPr>
              <a:t>Empat Jalur Biologis Menghubungkan Mikrobiota Usus dengan Sirkuit Limbik</a:t>
            </a:r>
          </a:p>
        </p:txBody>
      </p:sp>
      <p:sp>
        <p:nvSpPr>
          <p:cNvPr id="3" name="Band_Title_Header"/>
          <p:cNvSpPr txBox="1"/>
          <p:nvPr/>
        </p:nvSpPr>
        <p:spPr>
          <a:xfrm>
            <a:off x="731520" y="411480"/>
            <a:ext cx="10728655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2B2"/>
                </a:solidFill>
                <a:latin typeface="Calibri"/>
              </a:rPr>
              <a:t>MEKANISME JALUR USUS-OTAK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Empat Jalur Biologis Menghubungkan Mikrobiota Usus dengan Sirkuit Limbik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72B2"/>
                </a:solidFill>
                <a:latin typeface="Calibri"/>
              </a:rPr>
              <a:t>Koordinasi Saraf, Endokrin, &amp; Imun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700" b="1">
                <a:solidFill>
                  <a:srgbClr val="0F172A"/>
                </a:solidFill>
                <a:latin typeface="Calibri"/>
              </a:rPr>
              <a:t>Jalur Saraf Vagus: </a:t>
            </a:r>
            <a:r>
              <a:rPr sz="1500">
                <a:solidFill>
                  <a:srgbClr val="475569"/>
                </a:solidFill>
                <a:latin typeface="Calibri"/>
              </a:rPr>
              <a:t>Sinyal aferen vagal memodulasi reaktivitas amigdala dan emosi.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700" b="1">
                <a:solidFill>
                  <a:srgbClr val="0F172A"/>
                </a:solidFill>
                <a:latin typeface="Calibri"/>
              </a:rPr>
              <a:t>Redaman Sumbu HPA: </a:t>
            </a:r>
            <a:r>
              <a:rPr sz="1500">
                <a:solidFill>
                  <a:srgbClr val="475569"/>
                </a:solidFill>
                <a:latin typeface="Calibri"/>
              </a:rPr>
              <a:t>[↓] Hiperaktivasi stres HPA menurunkan sekresi hormon kortisol.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700" b="1">
                <a:solidFill>
                  <a:srgbClr val="0F172A"/>
                </a:solidFill>
                <a:latin typeface="Calibri"/>
              </a:rPr>
              <a:t>Sawar &amp; Imunitas: </a:t>
            </a:r>
            <a:r>
              <a:rPr sz="1500">
                <a:solidFill>
                  <a:srgbClr val="475569"/>
                </a:solidFill>
                <a:latin typeface="Calibri"/>
              </a:rPr>
              <a:t>[↓] Translokasi LPS, [↑] sIgA dan sitokin anti-inflamasi IL-10.</a:t>
            </a:r>
          </a:p>
        </p:txBody>
      </p:sp>
      <p:pic>
        <p:nvPicPr>
          <p:cNvPr id="5" name="Band_Body_Figure" descr="fig_mechanism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979" y="2011680"/>
            <a:ext cx="4412480" cy="4160520"/>
          </a:xfrm>
          <a:prstGeom prst="rect">
            <a:avLst/>
          </a:prstGeom>
          <a:ln>
            <a:noFill/>
          </a:ln>
        </p:spPr>
      </p:pic>
      <p:sp>
        <p:nvSpPr>
          <p:cNvPr id="6" name="Band_Footer_Citation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>
                <a:solidFill>
                  <a:srgbClr val="475569"/>
                </a:solidFill>
                <a:latin typeface="Calibri"/>
              </a:rPr>
              <a:t>Sisubalan N, et al. Front. Microbiol. 2026;17:1804560 | doi:10.3389/fmicb.2026.1804560   |   Hal.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9144" cy="9144"/>
          </a:xfrm>
        </p:spPr>
        <p:txBody>
          <a:bodyPr/>
          <a:lstStyle/>
          <a:p>
            <a:r>
              <a:rPr sz="100">
                <a:solidFill>
                  <a:srgbClr val="FFFFFF"/>
                </a:solidFill>
              </a:rPr>
              <a:t>Populasi Sehat Menunjukkan Respons Selektif yang Bergantung pada Konteks</a:t>
            </a:r>
          </a:p>
        </p:txBody>
      </p:sp>
      <p:sp>
        <p:nvSpPr>
          <p:cNvPr id="3" name="Band_Title_Header"/>
          <p:cNvSpPr txBox="1"/>
          <p:nvPr/>
        </p:nvSpPr>
        <p:spPr>
          <a:xfrm>
            <a:off x="731520" y="411480"/>
            <a:ext cx="10728655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2B2"/>
                </a:solidFill>
                <a:latin typeface="Calibri"/>
              </a:rPr>
              <a:t>BUKTI KLINIS I: SUBJEK SEHAT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Populasi Sehat Menunjukkan Respons Selektif yang Bergantung pada Konteks</a:t>
            </a:r>
          </a:p>
        </p:txBody>
      </p:sp>
      <p:graphicFrame>
        <p:nvGraphicFramePr>
          <p:cNvPr id="4" name="Band_Body_Table"/>
          <p:cNvGraphicFramePr>
            <a:graphicFrameLocks noGrp="1"/>
          </p:cNvGraphicFramePr>
          <p:nvPr/>
        </p:nvGraphicFramePr>
        <p:xfrm>
          <a:off x="731520" y="201168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2286000"/>
                <a:gridCol w="914400"/>
                <a:gridCol w="3870655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8FAFC"/>
                          </a:solidFill>
                          <a:latin typeface="Calibri"/>
                        </a:rPr>
                        <a:t>Studi (Desain)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8FAFC"/>
                          </a:solidFill>
                          <a:latin typeface="Calibri"/>
                        </a:rPr>
                        <a:t>Subjek (N)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8FAFC"/>
                          </a:solidFill>
                          <a:latin typeface="Calibri"/>
                        </a:rPr>
                        <a:t>Galur &amp; Dosis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8FAFC"/>
                          </a:solidFill>
                          <a:latin typeface="Calibri"/>
                        </a:rPr>
                        <a:t>Durasi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8FAFC"/>
                          </a:solidFill>
                          <a:latin typeface="Calibri"/>
                        </a:rPr>
                        <a:t>Luaran Klinis &amp; Biomarker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Kelly 2017 (RDBPCOT)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Pria sehat (n=29)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L. rhamnosus JB-1 (1×10⁹)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8 mgg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D55E00"/>
                          </a:solidFill>
                          <a:latin typeface="Calibri"/>
                        </a:rPr>
                        <a:t>[⚠] Setara plasebo pada cemas, kognisi, &amp; HPA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Morales-Torres 2023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Dewasa (n=135)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R0052 + R0175 (3×10⁹ CFU)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4 mgg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9E73"/>
                          </a:solidFill>
                          <a:latin typeface="Calibri"/>
                        </a:rPr>
                        <a:t>[✓] [↓] Cemas hanya bila disertai gaya hidup sehat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Mutoh 2024 (RPCT)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Dewasa (n=30)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B. breve M-16V (20×10⁹ sel)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6 mgg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9E73"/>
                          </a:solidFill>
                          <a:latin typeface="Calibri"/>
                        </a:rPr>
                        <a:t>[✓] [↓] Detak jantung stres, [↑] asam pipekolat &amp; tidur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Rode 2025 (RPCT)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Lansia (n=87)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L. rhamnosus HN001 (6×10⁹)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6 mgg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9E73"/>
                          </a:solidFill>
                          <a:latin typeface="Calibri"/>
                        </a:rPr>
                        <a:t>[✓] [↑] Konektivitas korteks visual &amp; kecepatan proses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Mäkelä 2023 (RTPCT)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Mahasiswa (n=190)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L. paracasei Lpc-37 (1,56×10¹⁰)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10 mgg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D55E00"/>
                          </a:solidFill>
                          <a:latin typeface="Calibri"/>
                        </a:rPr>
                        <a:t>[⚠] Cemas tetap; [↑] pemulihan tidur &amp; kewaspadaan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and_Footer_Citation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>
                <a:solidFill>
                  <a:srgbClr val="475569"/>
                </a:solidFill>
                <a:latin typeface="Calibri"/>
              </a:rPr>
              <a:t>Sisubalan N, et al. Front. Microbiol. 2026;17:1804560 | doi:10.3389/fmicb.2026.1804560   |   Hal.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9144" cy="9144"/>
          </a:xfrm>
        </p:spPr>
        <p:txBody>
          <a:bodyPr/>
          <a:lstStyle/>
          <a:p>
            <a:r>
              <a:rPr sz="100">
                <a:solidFill>
                  <a:srgbClr val="FFFFFF"/>
                </a:solidFill>
              </a:rPr>
              <a:t>Efek Anxiolitik dan Kognitif Lebih Kuat pada Subjek dengan Stres Tinggi</a:t>
            </a:r>
          </a:p>
        </p:txBody>
      </p:sp>
      <p:sp>
        <p:nvSpPr>
          <p:cNvPr id="3" name="Band_Title_Header"/>
          <p:cNvSpPr txBox="1"/>
          <p:nvPr/>
        </p:nvSpPr>
        <p:spPr>
          <a:xfrm>
            <a:off x="731520" y="411480"/>
            <a:ext cx="10728655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2B2"/>
                </a:solidFill>
                <a:latin typeface="Calibri"/>
              </a:rPr>
              <a:t>BUKTI KLINIS II: STRES, CEMAS &amp; DEPRESI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Efek Anxiolitik dan Kognitif Lebih Kuat pada Subjek dengan Stres Tinggi</a:t>
            </a:r>
          </a:p>
        </p:txBody>
      </p:sp>
      <p:graphicFrame>
        <p:nvGraphicFramePr>
          <p:cNvPr id="4" name="Band_Body_Table"/>
          <p:cNvGraphicFramePr>
            <a:graphicFrameLocks noGrp="1"/>
          </p:cNvGraphicFramePr>
          <p:nvPr/>
        </p:nvGraphicFramePr>
        <p:xfrm>
          <a:off x="731520" y="201168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828800"/>
                <a:gridCol w="2194560"/>
                <a:gridCol w="914400"/>
                <a:gridCol w="3870655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8FAFC"/>
                          </a:solidFill>
                          <a:latin typeface="Calibri"/>
                        </a:rPr>
                        <a:t>Studi (Desain)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8FAFC"/>
                          </a:solidFill>
                          <a:latin typeface="Calibri"/>
                        </a:rPr>
                        <a:t>Populasi (N)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8FAFC"/>
                          </a:solidFill>
                          <a:latin typeface="Calibri"/>
                        </a:rPr>
                        <a:t>Intervensi &amp; Dosis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8FAFC"/>
                          </a:solidFill>
                          <a:latin typeface="Calibri"/>
                        </a:rPr>
                        <a:t>Durasi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8FAFC"/>
                          </a:solidFill>
                          <a:latin typeface="Calibri"/>
                        </a:rPr>
                        <a:t>Luaran Klinis &amp; Mikrobioma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Tran 2019 (RPCT)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Mahasiswa (n=86)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Multi-galur (50×10⁹)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28 hr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9E73"/>
                          </a:solidFill>
                          <a:latin typeface="Calibri"/>
                        </a:rPr>
                        <a:t>[✓] [↓] Panik &amp; cemas neurofisiologis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Soldi 2019 (RTPCT)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Dewasa stres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Lactoflorene (2×10⁹)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129 hr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9E73"/>
                          </a:solidFill>
                          <a:latin typeface="Calibri"/>
                        </a:rPr>
                        <a:t>[✓] [↑] sIgA &amp; IL-10, [↓] nyeri perut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Chahwan 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Depresi (n=71)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Ecologic (1×10¹⁰)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8 mgg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9E73"/>
                          </a:solidFill>
                          <a:latin typeface="Calibri"/>
                        </a:rPr>
                        <a:t>[✓] [↓] Reaktivitas kognitif depresif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Ma 2021 (RPCT)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Stres (n=79)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L. plantarum P-8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12 mgg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9E73"/>
                          </a:solidFill>
                          <a:latin typeface="Calibri"/>
                        </a:rPr>
                        <a:t>[✓] [↓] Stres &amp; cemas, [↑] jalur GABA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Wu 2022 (RPCT)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Perawat (n=70)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HK L. paracasei PS23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8 mgg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9E73"/>
                          </a:solidFill>
                          <a:latin typeface="Calibri"/>
                        </a:rPr>
                        <a:t>[✓] [↓] Kortisol darah &amp; skor cemas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Levy Schwartz 2024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ADHD (n=67)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Multi-galur (8×10⁹)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3 bln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9E73"/>
                          </a:solidFill>
                          <a:latin typeface="Calibri"/>
                        </a:rPr>
                        <a:t>[✓] [↓] Hiperaktivitas, [↑] akademik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Band_Footer_Citation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>
                <a:solidFill>
                  <a:srgbClr val="475569"/>
                </a:solidFill>
                <a:latin typeface="Calibri"/>
              </a:rPr>
              <a:t>Sisubalan N, et al. Front. Microbiol. 2026;17:1804560 | doi:10.3389/fmicb.2026.1804560   |   Hal.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9144" cy="9144"/>
          </a:xfrm>
        </p:spPr>
        <p:txBody>
          <a:bodyPr/>
          <a:lstStyle/>
          <a:p>
            <a:r>
              <a:rPr sz="100">
                <a:solidFill>
                  <a:srgbClr val="FFFFFF"/>
                </a:solidFill>
              </a:rPr>
              <a:t>Diet Psikobiotik dan Galur Spesifik Menurunkan Skor Stres Terpersepsi</a:t>
            </a:r>
          </a:p>
        </p:txBody>
      </p:sp>
      <p:sp>
        <p:nvSpPr>
          <p:cNvPr id="3" name="Band_Title_Header"/>
          <p:cNvSpPr txBox="1"/>
          <p:nvPr/>
        </p:nvSpPr>
        <p:spPr>
          <a:xfrm>
            <a:off x="731520" y="411480"/>
            <a:ext cx="10728655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2B2"/>
                </a:solidFill>
                <a:latin typeface="Calibri"/>
              </a:rPr>
              <a:t>INTERVENSI DIET &amp; BIOMARKER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Diet Psikobiotik dan Galur Spesifik Menurunkan Skor Stres Terpersepsi</a:t>
            </a:r>
          </a:p>
        </p:txBody>
      </p:sp>
      <p:graphicFrame>
        <p:nvGraphicFramePr>
          <p:cNvPr id="4" name="Band_Body_Chart"/>
          <p:cNvGraphicFramePr>
            <a:graphicFrameLocks noGrp="1"/>
          </p:cNvGraphicFramePr>
          <p:nvPr/>
        </p:nvGraphicFramePr>
        <p:xfrm>
          <a:off x="731520" y="2011680"/>
          <a:ext cx="50292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72200" y="2011680"/>
            <a:ext cx="5285232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72B2"/>
                </a:solidFill>
                <a:latin typeface="Calibri"/>
              </a:rPr>
              <a:t>Temuan Diet &amp; Kognitif-Afektif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700" b="1">
                <a:solidFill>
                  <a:srgbClr val="0F172A"/>
                </a:solidFill>
                <a:latin typeface="Calibri"/>
              </a:rPr>
              <a:t>Diet Psikobiotik (n=45): </a:t>
            </a:r>
            <a:r>
              <a:rPr sz="1500">
                <a:solidFill>
                  <a:srgbClr val="475569"/>
                </a:solidFill>
                <a:latin typeface="Calibri"/>
              </a:rPr>
              <a:t>[↓] Stres 32% vs 17% kontrol dalam 4 minggu (Berding 2022).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700" b="1">
                <a:solidFill>
                  <a:srgbClr val="0F172A"/>
                </a:solidFill>
                <a:latin typeface="Calibri"/>
              </a:rPr>
              <a:t>Metabolit Triptofan: </a:t>
            </a:r>
            <a:r>
              <a:rPr sz="1500">
                <a:solidFill>
                  <a:srgbClr val="475569"/>
                </a:solidFill>
                <a:latin typeface="Calibri"/>
              </a:rPr>
              <a:t>Kepatuhan tinggi mengubah lipid tinja &amp; triptofan urin.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700" b="1">
                <a:solidFill>
                  <a:srgbClr val="0F172A"/>
                </a:solidFill>
                <a:latin typeface="Calibri"/>
              </a:rPr>
              <a:t>Kendali Ruminasi: </a:t>
            </a:r>
            <a:r>
              <a:rPr sz="1500">
                <a:solidFill>
                  <a:srgbClr val="475569"/>
                </a:solidFill>
                <a:latin typeface="Calibri"/>
              </a:rPr>
              <a:t>L. brevis P30021 + L. plantarum P30025 menekan ruminasi (Casertano 2024).</a:t>
            </a:r>
          </a:p>
        </p:txBody>
      </p:sp>
      <p:sp>
        <p:nvSpPr>
          <p:cNvPr id="6" name="Band_Footer_Citation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>
                <a:solidFill>
                  <a:srgbClr val="475569"/>
                </a:solidFill>
                <a:latin typeface="Calibri"/>
              </a:rPr>
              <a:t>Sisubalan N, et al. Front. Microbiol. 2026;17:1804560 | doi:10.3389/fmicb.2026.1804560   |   Hal.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9144" cy="9144"/>
          </a:xfrm>
        </p:spPr>
        <p:txBody>
          <a:bodyPr/>
          <a:lstStyle/>
          <a:p>
            <a:r>
              <a:rPr sz="100">
                <a:solidFill>
                  <a:srgbClr val="FFFFFF"/>
                </a:solidFill>
              </a:rPr>
              <a:t>Efikasi Antidepresan Bergantung pada Kapasitas Metabolit Galur Spesifik</a:t>
            </a:r>
          </a:p>
        </p:txBody>
      </p:sp>
      <p:sp>
        <p:nvSpPr>
          <p:cNvPr id="3" name="Band_Title_Header"/>
          <p:cNvSpPr txBox="1"/>
          <p:nvPr/>
        </p:nvSpPr>
        <p:spPr>
          <a:xfrm>
            <a:off x="731520" y="411480"/>
            <a:ext cx="10728655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2B2"/>
                </a:solidFill>
                <a:latin typeface="Calibri"/>
              </a:rPr>
              <a:t>MEKANISME MOLEKULER SPESIFIK GALUR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Efikasi Antidepresan Bergantung pada Kapasitas Metabolit Galur Spesifik</a:t>
            </a:r>
          </a:p>
        </p:txBody>
      </p:sp>
      <p:sp>
        <p:nvSpPr>
          <p:cNvPr id="4" name="Band_Body_Card"/>
          <p:cNvSpPr/>
          <p:nvPr/>
        </p:nvSpPr>
        <p:spPr>
          <a:xfrm>
            <a:off x="731520" y="2011680"/>
            <a:ext cx="3300984" cy="41605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nd_Body_Col3_1"/>
          <p:cNvSpPr txBox="1"/>
          <p:nvPr/>
        </p:nvSpPr>
        <p:spPr>
          <a:xfrm>
            <a:off x="932688" y="2212848"/>
            <a:ext cx="2898648" cy="3758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72B2"/>
                </a:solidFill>
                <a:latin typeface="Calibri"/>
              </a:rPr>
              <a:t>Jalur ILA &amp; Aldh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libri"/>
              </a:rPr>
              <a:t>Metabolit ILA: </a:t>
            </a:r>
            <a:r>
              <a:rPr sz="1400">
                <a:solidFill>
                  <a:srgbClr val="475569"/>
                </a:solidFill>
                <a:latin typeface="Calibri"/>
              </a:rPr>
              <a:t>B. breve memproduksi ILA peredam neuroinflamasi AhR.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libri"/>
              </a:rPr>
              <a:t>Gen Aldh: </a:t>
            </a:r>
            <a:r>
              <a:rPr sz="1400">
                <a:solidFill>
                  <a:srgbClr val="475569"/>
                </a:solidFill>
                <a:latin typeface="Calibri"/>
              </a:rPr>
              <a:t>Tanpa gen Aldh, efek antidepresan hilang (Qian 2024).</a:t>
            </a:r>
          </a:p>
        </p:txBody>
      </p:sp>
      <p:sp>
        <p:nvSpPr>
          <p:cNvPr id="6" name="Band_Body_Card"/>
          <p:cNvSpPr/>
          <p:nvPr/>
        </p:nvSpPr>
        <p:spPr>
          <a:xfrm>
            <a:off x="4443983" y="2011680"/>
            <a:ext cx="3300984" cy="41605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nd_Body_Col3_2"/>
          <p:cNvSpPr txBox="1"/>
          <p:nvPr/>
        </p:nvSpPr>
        <p:spPr>
          <a:xfrm>
            <a:off x="4645151" y="2212848"/>
            <a:ext cx="2898648" cy="3758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72B2"/>
                </a:solidFill>
                <a:latin typeface="Calibri"/>
              </a:rPr>
              <a:t>Biomarker Remisi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libri"/>
              </a:rPr>
              <a:t>Takson SCFA: </a:t>
            </a:r>
            <a:r>
              <a:rPr sz="1400">
                <a:solidFill>
                  <a:srgbClr val="475569"/>
                </a:solidFill>
                <a:latin typeface="Calibri"/>
              </a:rPr>
              <a:t>Faecalibacterium &amp; Roseburia memprediksi remisi (Lee 2022).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libri"/>
              </a:rPr>
              <a:t>Responden: </a:t>
            </a:r>
            <a:r>
              <a:rPr sz="1400">
                <a:solidFill>
                  <a:srgbClr val="475569"/>
                </a:solidFill>
                <a:latin typeface="Calibri"/>
              </a:rPr>
              <a:t>Pergeseran mikrobioma hanya muncul pada pasien remisi.</a:t>
            </a:r>
          </a:p>
        </p:txBody>
      </p:sp>
      <p:sp>
        <p:nvSpPr>
          <p:cNvPr id="8" name="Band_Body_Card"/>
          <p:cNvSpPr/>
          <p:nvPr/>
        </p:nvSpPr>
        <p:spPr>
          <a:xfrm>
            <a:off x="8156448" y="2011680"/>
            <a:ext cx="3300984" cy="41605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nd_Body_Col3_3"/>
          <p:cNvSpPr txBox="1"/>
          <p:nvPr/>
        </p:nvSpPr>
        <p:spPr>
          <a:xfrm>
            <a:off x="8357616" y="2212848"/>
            <a:ext cx="2898648" cy="3758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72B2"/>
                </a:solidFill>
                <a:latin typeface="Calibri"/>
              </a:rPr>
              <a:t>Sinergi Obat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libri"/>
              </a:rPr>
              <a:t>R0052/R0175: </a:t>
            </a:r>
            <a:r>
              <a:rPr sz="1400">
                <a:solidFill>
                  <a:srgbClr val="475569"/>
                </a:solidFill>
                <a:latin typeface="Calibri"/>
              </a:rPr>
              <a:t>[↓] Asam isovalerat tinja bersama non-SSRI (Gawlik 2025).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libri"/>
              </a:rPr>
              <a:t>Korelasi: </a:t>
            </a:r>
            <a:r>
              <a:rPr sz="1400">
                <a:solidFill>
                  <a:srgbClr val="475569"/>
                </a:solidFill>
                <a:latin typeface="Calibri"/>
              </a:rPr>
              <a:t>Penurunan isovalerat sejalan perbaikan depresi.</a:t>
            </a:r>
          </a:p>
        </p:txBody>
      </p:sp>
      <p:sp>
        <p:nvSpPr>
          <p:cNvPr id="10" name="Band_Footer_Citation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>
                <a:solidFill>
                  <a:srgbClr val="475569"/>
                </a:solidFill>
                <a:latin typeface="Calibri"/>
              </a:rPr>
              <a:t>Sisubalan N, et al. Front. Microbiol. 2026;17:1804560 | doi:10.3389/fmicb.2026.1804560   |   Hal.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9144" cy="9144"/>
          </a:xfrm>
        </p:spPr>
        <p:txBody>
          <a:bodyPr/>
          <a:lstStyle/>
          <a:p>
            <a:r>
              <a:rPr sz="100">
                <a:solidFill>
                  <a:srgbClr val="FFFFFF"/>
                </a:solidFill>
              </a:rPr>
              <a:t>Model Psikobiotik Presisi Menuntut Kesesuaian Dosis, Matriks, dan Fenotipe</a:t>
            </a:r>
          </a:p>
        </p:txBody>
      </p:sp>
      <p:sp>
        <p:nvSpPr>
          <p:cNvPr id="3" name="Band_Title_Header"/>
          <p:cNvSpPr txBox="1"/>
          <p:nvPr/>
        </p:nvSpPr>
        <p:spPr>
          <a:xfrm>
            <a:off x="731520" y="411480"/>
            <a:ext cx="10728655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2B2"/>
                </a:solidFill>
                <a:latin typeface="Calibri"/>
              </a:rPr>
              <a:t>MODERATOR EFIKASI &amp; ARAH RISET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Model Psikobiotik Presisi Menuntut Kesesuaian Dosis, Matriks, dan Fenotipe</a:t>
            </a:r>
          </a:p>
        </p:txBody>
      </p:sp>
      <p:sp>
        <p:nvSpPr>
          <p:cNvPr id="4" name="Band_Body_Col2_1"/>
          <p:cNvSpPr txBox="1"/>
          <p:nvPr/>
        </p:nvSpPr>
        <p:spPr>
          <a:xfrm>
            <a:off x="731520" y="2011680"/>
            <a:ext cx="5157216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72B2"/>
                </a:solidFill>
                <a:latin typeface="Calibri"/>
              </a:rPr>
              <a:t>Moderator Efikasi Klinis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700" b="1">
                <a:solidFill>
                  <a:srgbClr val="0F172A"/>
                </a:solidFill>
                <a:latin typeface="Calibri"/>
              </a:rPr>
              <a:t>Dosis CFU: </a:t>
            </a:r>
            <a:r>
              <a:rPr sz="1500">
                <a:solidFill>
                  <a:srgbClr val="475569"/>
                </a:solidFill>
                <a:latin typeface="Calibri"/>
              </a:rPr>
              <a:t>Dosis ≥10¹⁰–50×10⁹ CFU lebih menentukan daripada jumlah spesies.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700" b="1">
                <a:solidFill>
                  <a:srgbClr val="0F172A"/>
                </a:solidFill>
                <a:latin typeface="Calibri"/>
              </a:rPr>
              <a:t>Durasi &amp; Matriks: </a:t>
            </a:r>
            <a:r>
              <a:rPr sz="1500">
                <a:solidFill>
                  <a:srgbClr val="475569"/>
                </a:solidFill>
                <a:latin typeface="Calibri"/>
              </a:rPr>
              <a:t>Durasi 8–12 minggu &amp; enkapsulasi mengoptimalkan hantaran usus.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700" b="1">
                <a:solidFill>
                  <a:srgbClr val="0F172A"/>
                </a:solidFill>
                <a:latin typeface="Calibri"/>
              </a:rPr>
              <a:t>Stres Dasar: </a:t>
            </a:r>
            <a:r>
              <a:rPr sz="1500">
                <a:solidFill>
                  <a:srgbClr val="475569"/>
                </a:solidFill>
                <a:latin typeface="Calibri"/>
              </a:rPr>
              <a:t>Efek terkuat pada subjek dengan kecemasan awal tinggi.</a:t>
            </a:r>
          </a:p>
        </p:txBody>
      </p:sp>
      <p:sp>
        <p:nvSpPr>
          <p:cNvPr id="5" name="Band_Body_Col2_2"/>
          <p:cNvSpPr txBox="1"/>
          <p:nvPr/>
        </p:nvSpPr>
        <p:spPr>
          <a:xfrm>
            <a:off x="6300216" y="2011680"/>
            <a:ext cx="5157216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72B2"/>
                </a:solidFill>
                <a:latin typeface="Calibri"/>
              </a:rPr>
              <a:t>Keterbatasan &amp; Arah Riset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700" b="1">
                <a:solidFill>
                  <a:srgbClr val="0F172A"/>
                </a:solidFill>
                <a:latin typeface="Calibri"/>
              </a:rPr>
              <a:t>Subjek Sehat: </a:t>
            </a:r>
            <a:r>
              <a:rPr sz="1500">
                <a:solidFill>
                  <a:srgbClr val="475569"/>
                </a:solidFill>
                <a:latin typeface="Calibri"/>
              </a:rPr>
              <a:t>[⚠] Efek langit-langit membatasi respons pada populasi sehat.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700" b="1">
                <a:solidFill>
                  <a:srgbClr val="0F172A"/>
                </a:solidFill>
                <a:latin typeface="Calibri"/>
              </a:rPr>
              <a:t>Multi-Omik: </a:t>
            </a:r>
            <a:r>
              <a:rPr sz="1500">
                <a:solidFill>
                  <a:srgbClr val="475569"/>
                </a:solidFill>
                <a:latin typeface="Calibri"/>
              </a:rPr>
              <a:t>Integrasi metagenomik, metabolomik, dan pencitraan saraf.</a:t>
            </a:r>
          </a:p>
          <a:p>
            <a:pPr algn="l" marL="219456" indent="-219456">
              <a:spcAft>
                <a:spcPts val="1000"/>
              </a:spcAft>
              <a:buFont typeface="Arial"/>
              <a:buChar char="•"/>
            </a:pPr>
            <a:r>
              <a:rPr sz="1700" b="1">
                <a:solidFill>
                  <a:srgbClr val="0F172A"/>
                </a:solidFill>
                <a:latin typeface="Calibri"/>
              </a:rPr>
              <a:t>Terapi Adjuvan: </a:t>
            </a:r>
            <a:r>
              <a:rPr sz="1500">
                <a:solidFill>
                  <a:srgbClr val="475569"/>
                </a:solidFill>
                <a:latin typeface="Calibri"/>
              </a:rPr>
              <a:t>[✓] Sinergis bersama CBT, antidepresan, dan diet sehat.</a:t>
            </a:r>
          </a:p>
        </p:txBody>
      </p:sp>
      <p:sp>
        <p:nvSpPr>
          <p:cNvPr id="6" name="Band_Footer_Citation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>
                <a:solidFill>
                  <a:srgbClr val="475569"/>
                </a:solidFill>
                <a:latin typeface="Calibri"/>
              </a:rPr>
              <a:t>Sisubalan N, et al. Front. Microbiol. 2026;17:1804560 | doi:10.3389/fmicb.2026.1804560   |   Hal.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9144" cy="9144"/>
          </a:xfrm>
        </p:spPr>
        <p:txBody>
          <a:bodyPr/>
          <a:lstStyle/>
          <a:p>
            <a:r>
              <a:rPr sz="100">
                <a:solidFill>
                  <a:srgbClr val="0F172A"/>
                </a:solidFill>
              </a:rPr>
              <a:t>Psikobiotik Galur Spesifik Efektif sebagai Terapi Adjuvan Ketahanan Stres dan Emosi</a:t>
            </a:r>
          </a:p>
        </p:txBody>
      </p:sp>
      <p:sp>
        <p:nvSpPr>
          <p:cNvPr id="3" name="Band_Title_Header"/>
          <p:cNvSpPr txBox="1"/>
          <p:nvPr/>
        </p:nvSpPr>
        <p:spPr>
          <a:xfrm>
            <a:off x="731520" y="411480"/>
            <a:ext cx="10728655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3C5FD"/>
                </a:solidFill>
                <a:latin typeface="Calibri"/>
              </a:rPr>
              <a:t>KESIMPULAN UTAMA (TAKE-HOME MESSAGE)</a:t>
            </a:r>
          </a:p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Psikobiotik Galur Spesifik Efektif sebagai Terapi Adjuvan Ketahanan Stres dan Emosi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8FAFC"/>
                </a:solidFill>
                <a:latin typeface="Calibri"/>
              </a:rPr>
              <a:t>Aplikasi klinis wajib dipersonalisasi menurut kapasitas metabolit galur (GABA, SCFA, ILA), dosis CFU, durasi 8–12 minggu, dan profil stres pasien.</a:t>
            </a:r>
          </a:p>
        </p:txBody>
      </p:sp>
      <p:sp>
        <p:nvSpPr>
          <p:cNvPr id="5" name="Band_Footer_Citation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>
                <a:solidFill>
                  <a:srgbClr val="94A3B8"/>
                </a:solidFill>
                <a:latin typeface="Calibri"/>
              </a:rPr>
              <a:t>Sisubalan N, et al. Front. Microbiol. 2026;17:1804560 | doi:10.3389/fmicb.2026.1804560   |   Hal.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